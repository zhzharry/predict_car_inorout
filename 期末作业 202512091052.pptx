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7C7AE-D05A-44E7-A148-40752003E3F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5695A6-8293-435A-A1EC-AB60CD0E5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380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D4A050-9A0A-4B9D-8223-F106409AF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E09766-FD85-4CC8-99D5-AD364277A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F23E73-4DB4-44D9-903F-B8A5D7E31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BE681-678A-43A6-9C9F-36E0CBED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9ABA21-AAB7-4D10-BF43-0C6B4BC9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025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34F03-FA75-453B-B9C3-83740A14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3DB3A5-9B2D-4047-B588-9683955BE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44F400-98F9-4732-9B12-CE853014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DC6A27-DF6B-4470-85C0-54FD5E1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5961E4-C6D6-40C8-A7DA-EC333859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552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5C692-0A6A-4E85-AFDE-6CCC143AB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6F31C5-45B1-4135-B62D-56DCF7014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E10D25-F1FC-49BA-8117-E1715711F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2E3262-342B-42AD-8D0D-26ACFF24C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A8A120-D9A1-48A2-AEBE-53DEDF16E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37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7AD62A-AF84-4A25-B2D5-9DF10A421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7DC405-8DD2-4ED3-A216-3514ADCD2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73C911-4754-43BF-90DC-7EFDCFB01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69F715-0FC1-448E-97D6-98E1649F2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771E30-D111-4BAC-B88B-331F5C38D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A92E2D-44DB-4FFF-8026-6D05828AF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11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EE89A1-D592-48C1-9741-AA16ED320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584A68-9A0F-4290-A66B-0FAEFEE8B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97398E-6A48-4578-A99D-C084A3B73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9BA98F4-A66F-463E-B847-CD4BF8971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533AEE7-8DB6-4317-9873-B505554DDD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06478C3-3A7F-4900-828B-689E7F926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02DAF4-BE8E-4F8B-A647-ADBA725F5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8A87065-D6FC-4D92-BA1B-D83847EA3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569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468AF9-3F57-460A-A8F0-0C29D6E96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1D99322-18F5-4F94-8F07-5A547027B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067B6B-E85B-4CFC-A5A5-D499BCAB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E3E4B8-EC75-4DBD-8A4E-9DB12DCC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603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883326-6BE2-460E-9254-D4E097F43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C00FC2-D368-4FC6-B049-A8E8F4285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F3C414-2986-4117-BF7D-03C10A5DA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89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E43234-8E00-4639-800C-6D9414795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B0DCFE-A02D-4B33-BF1A-F1592F173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6DD2D3-DC53-40EE-9744-99AF37DD3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4B4E86-755F-45C0-8723-3F7703E37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F69F98-5361-41FE-AB99-012D52E5E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0B1924-1508-4983-87E9-DCB7FCE3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193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C9273-AC48-4AF3-8E3B-3EC677A86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5DC82B-A627-4A22-B1A8-9947998BD6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81E57B-AF4E-4195-950C-C25326555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80F209-739C-4050-9FBB-49187863F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0FEFD6-53AB-4E9A-8111-40D83A06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743417-E5C4-4BB4-89B5-3C7091B06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72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80F84-1E8E-4CE3-892A-CD30C193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17E5B4-65B4-4078-8E8D-5F882C911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4A31AC-1C4E-412C-886D-DA6B67CA2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49258F-37FC-439D-8B16-7F8599593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81D8F3-5B80-4BD5-9959-81525380B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15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BC266F-6502-4797-88E1-4D9CC6C6D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DA00E8-8115-4676-BF19-D3CD43239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0E48EC-CE6A-453B-B990-952D334F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76C1C9-7179-4595-A91F-BDAE33BE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8A0148-F570-49E0-B947-36AC89F3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053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0C1BAA0-D6F0-4E91-BE1B-9D1F6C51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5941FE-ED8E-4C0F-AD31-325005CEB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4307D9-F9C3-41D4-9FE6-A4DE76925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ADCF0-DA19-4312-960C-007D888B7C7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8033F2-FF69-4845-B83B-2C16F45F0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5591AF-AF3D-47BD-82C6-F0AF8E3BE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BAD68-C4E2-413B-B949-5D4E250E7B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068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5E62D72-D044-4168-83A0-38392E58F6BA}"/>
              </a:ext>
            </a:extLst>
          </p:cNvPr>
          <p:cNvSpPr txBox="1"/>
          <p:nvPr/>
        </p:nvSpPr>
        <p:spPr>
          <a:xfrm>
            <a:off x="551935" y="982657"/>
            <a:ext cx="11236411" cy="4892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一、项目背景</a:t>
            </a: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本项目基于真实场景下采集的手机多传感器数据，数据来源于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用户开车进</a:t>
            </a: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出地下车库过程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中的加速度、陀螺仪、光照、磁场、无线信号等传感器信息。经过预处理和特征提取后，最终形成了结构化的特征数据集。</a:t>
            </a: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数据集中包含多个与环境变化、运动状态变化相关的统计特征，能够反映用户在不同区域（如地面道路、地库内部、上下坡、入口处）时的动态特征变化。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标签列，</a:t>
            </a:r>
            <a:r>
              <a:rPr lang="en-US" altLang="zh-CN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labelArea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：目标标签字段，表示当前样本所属的场景或区域类别，总共有三类，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0-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其他，</a:t>
            </a:r>
            <a:endParaRPr lang="en-US" altLang="zh-CN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1-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进入地库阶段，</a:t>
            </a:r>
            <a:endParaRPr lang="en-US" altLang="zh-CN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2-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出地库阶段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其他列：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特征（由手机各传感器经过窗口处理、统计、滤波等方式得到）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或者该数据的信息（采集时间，采集人员）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F0F4BD-78A1-456A-A4B8-16A2CDDB30CE}"/>
              </a:ext>
            </a:extLst>
          </p:cNvPr>
          <p:cNvSpPr/>
          <p:nvPr/>
        </p:nvSpPr>
        <p:spPr>
          <a:xfrm>
            <a:off x="0" y="0"/>
            <a:ext cx="12192000" cy="590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期末大作业选项</a:t>
            </a:r>
            <a:r>
              <a:rPr lang="en-US" altLang="zh-CN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</a:t>
            </a:r>
            <a:r>
              <a:rPr lang="zh-CN" altLang="en-US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：车辆进出地库识别任务，难度</a:t>
            </a:r>
            <a:r>
              <a:rPr lang="en-US" altLang="zh-CN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1.0</a:t>
            </a:r>
            <a:endParaRPr lang="zh-CN" altLang="en-US" sz="24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249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5E62D72-D044-4168-83A0-38392E58F6BA}"/>
              </a:ext>
            </a:extLst>
          </p:cNvPr>
          <p:cNvSpPr txBox="1"/>
          <p:nvPr/>
        </p:nvSpPr>
        <p:spPr>
          <a:xfrm>
            <a:off x="551935" y="667265"/>
            <a:ext cx="11236411" cy="627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二、任务目标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目标： 根据传感器特征，预测样本所属的 </a:t>
            </a:r>
            <a:r>
              <a:rPr lang="en-US" altLang="zh-CN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labelArea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（类别），即：利用加速度、姿态、光照、磁场等特征，自动识别用户当前是否处于进地库坡道、出地库坡道或其他道路区域。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使用课程方法分析数据并训练模型，包括但不限于：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使用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SVD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进行数据预处理，降噪，降维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使用特征分解验证特征关联系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使用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QR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分解筛选关键特征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使用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LU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分解设计高效求解方法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在完成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到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4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的基础上可以使用机器学习，深度学习等更高级算法进行对比分析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评价指标：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预测准确率（限定实时检测系统，如果出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入库前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20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秒到完全出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入库后</a:t>
            </a:r>
            <a:r>
              <a:rPr lang="en-US" altLang="zh-CN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40s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还未检测，则视为检测失败）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检测时延（以完全出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入库为基准，统计检测时延，注意不可以使用未来数据）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计算效率（尽量降低计算开销，提高计算速度）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模型大小（如模型文件大小、参数量）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923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1DF91-FCAD-2502-1F4F-DD808EFE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FDB33DF-7ABC-4578-BEEF-1100B1809840}"/>
              </a:ext>
            </a:extLst>
          </p:cNvPr>
          <p:cNvSpPr txBox="1"/>
          <p:nvPr/>
        </p:nvSpPr>
        <p:spPr>
          <a:xfrm>
            <a:off x="412750" y="288995"/>
            <a:ext cx="11004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三、训练集数据说明</a:t>
            </a:r>
            <a:endParaRPr lang="en-US" altLang="zh-CN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ACA2405-782C-8E7C-D3DA-C7EF34DFB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672819"/>
              </p:ext>
            </p:extLst>
          </p:nvPr>
        </p:nvGraphicFramePr>
        <p:xfrm>
          <a:off x="817556" y="4022407"/>
          <a:ext cx="10706112" cy="2612253"/>
        </p:xfrm>
        <a:graphic>
          <a:graphicData uri="http://schemas.openxmlformats.org/drawingml/2006/table">
            <a:tbl>
              <a:tblPr/>
              <a:tblGrid>
                <a:gridCol w="892176">
                  <a:extLst>
                    <a:ext uri="{9D8B030D-6E8A-4147-A177-3AD203B41FA5}">
                      <a16:colId xmlns:a16="http://schemas.microsoft.com/office/drawing/2014/main" val="3114759699"/>
                    </a:ext>
                  </a:extLst>
                </a:gridCol>
                <a:gridCol w="892176">
                  <a:extLst>
                    <a:ext uri="{9D8B030D-6E8A-4147-A177-3AD203B41FA5}">
                      <a16:colId xmlns:a16="http://schemas.microsoft.com/office/drawing/2014/main" val="2811544534"/>
                    </a:ext>
                  </a:extLst>
                </a:gridCol>
                <a:gridCol w="892176">
                  <a:extLst>
                    <a:ext uri="{9D8B030D-6E8A-4147-A177-3AD203B41FA5}">
                      <a16:colId xmlns:a16="http://schemas.microsoft.com/office/drawing/2014/main" val="332704953"/>
                    </a:ext>
                  </a:extLst>
                </a:gridCol>
                <a:gridCol w="892176">
                  <a:extLst>
                    <a:ext uri="{9D8B030D-6E8A-4147-A177-3AD203B41FA5}">
                      <a16:colId xmlns:a16="http://schemas.microsoft.com/office/drawing/2014/main" val="681894689"/>
                    </a:ext>
                  </a:extLst>
                </a:gridCol>
                <a:gridCol w="892176">
                  <a:extLst>
                    <a:ext uri="{9D8B030D-6E8A-4147-A177-3AD203B41FA5}">
                      <a16:colId xmlns:a16="http://schemas.microsoft.com/office/drawing/2014/main" val="2833482128"/>
                    </a:ext>
                  </a:extLst>
                </a:gridCol>
                <a:gridCol w="892176">
                  <a:extLst>
                    <a:ext uri="{9D8B030D-6E8A-4147-A177-3AD203B41FA5}">
                      <a16:colId xmlns:a16="http://schemas.microsoft.com/office/drawing/2014/main" val="1672667205"/>
                    </a:ext>
                  </a:extLst>
                </a:gridCol>
                <a:gridCol w="892176">
                  <a:extLst>
                    <a:ext uri="{9D8B030D-6E8A-4147-A177-3AD203B41FA5}">
                      <a16:colId xmlns:a16="http://schemas.microsoft.com/office/drawing/2014/main" val="2191941547"/>
                    </a:ext>
                  </a:extLst>
                </a:gridCol>
                <a:gridCol w="892176">
                  <a:extLst>
                    <a:ext uri="{9D8B030D-6E8A-4147-A177-3AD203B41FA5}">
                      <a16:colId xmlns:a16="http://schemas.microsoft.com/office/drawing/2014/main" val="3338153640"/>
                    </a:ext>
                  </a:extLst>
                </a:gridCol>
                <a:gridCol w="892176">
                  <a:extLst>
                    <a:ext uri="{9D8B030D-6E8A-4147-A177-3AD203B41FA5}">
                      <a16:colId xmlns:a16="http://schemas.microsoft.com/office/drawing/2014/main" val="2274261019"/>
                    </a:ext>
                  </a:extLst>
                </a:gridCol>
                <a:gridCol w="892176">
                  <a:extLst>
                    <a:ext uri="{9D8B030D-6E8A-4147-A177-3AD203B41FA5}">
                      <a16:colId xmlns:a16="http://schemas.microsoft.com/office/drawing/2014/main" val="3491336139"/>
                    </a:ext>
                  </a:extLst>
                </a:gridCol>
                <a:gridCol w="892176">
                  <a:extLst>
                    <a:ext uri="{9D8B030D-6E8A-4147-A177-3AD203B41FA5}">
                      <a16:colId xmlns:a16="http://schemas.microsoft.com/office/drawing/2014/main" val="574198976"/>
                    </a:ext>
                  </a:extLst>
                </a:gridCol>
                <a:gridCol w="892176">
                  <a:extLst>
                    <a:ext uri="{9D8B030D-6E8A-4147-A177-3AD203B41FA5}">
                      <a16:colId xmlns:a16="http://schemas.microsoft.com/office/drawing/2014/main" val="3026608892"/>
                    </a:ext>
                  </a:extLst>
                </a:gridCol>
              </a:tblGrid>
              <a:tr h="8305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effectLst/>
                        </a:rPr>
                        <a:t>-</a:t>
                      </a:r>
                      <a:r>
                        <a:rPr lang="en-US" sz="1000" dirty="0" err="1">
                          <a:effectLst/>
                        </a:rPr>
                        <a:t>100_base_station_LTE_last_first_new_station_count_robust_z_10s</a:t>
                      </a:r>
                      <a:endParaRPr lang="en-US" sz="1000" dirty="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gyr_variance_3s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 err="1">
                          <a:effectLst/>
                        </a:rPr>
                        <a:t>turn_turn_count_20s</a:t>
                      </a:r>
                      <a:endParaRPr lang="en-US" sz="1000" dirty="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>
                          <a:effectLst/>
                        </a:rPr>
                        <a:t>-140_base_station_LTE_dominant_signal_ratio_8s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turn_cumulative_turn_angle_20s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mag_peaks_count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-100_base_station_LTE_last_first_decrease_count_16s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>
                          <a:effectLst/>
                        </a:rPr>
                        <a:t>-140_base_station_LTE_dominant_signal_ratio_10s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light_light_01_light_change_in_15000ms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-100_base_station_LTE_last_first_decrease_count_20s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 err="1">
                          <a:effectLst/>
                        </a:rPr>
                        <a:t>labelArea</a:t>
                      </a:r>
                      <a:endParaRPr lang="en-US" sz="1000" dirty="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685637"/>
                  </a:ext>
                </a:extLst>
              </a:tr>
              <a:tr h="1533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count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effectLst/>
                        </a:rPr>
                        <a:t>16103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36070"/>
                  </a:ext>
                </a:extLst>
              </a:tr>
              <a:tr h="17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mean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276284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0.0185353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0.641868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0.66001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55.7795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0.386326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2.39663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0.649062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23.0147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2.60219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0.111843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900483"/>
                  </a:ext>
                </a:extLst>
              </a:tr>
              <a:tr h="17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std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875061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0.072381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1.50822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0.257831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73.4198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0.6506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2.48415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0.260804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884.715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2.60892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0.416524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821158"/>
                  </a:ext>
                </a:extLst>
              </a:tr>
              <a:tr h="244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min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-2e+06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1e-10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0.123404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0.114489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-18484.7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306457"/>
                  </a:ext>
                </a:extLst>
              </a:tr>
              <a:tr h="17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25%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6.58344e-05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0.433093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5.1602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0.42001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-1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381386"/>
                  </a:ext>
                </a:extLst>
              </a:tr>
              <a:tr h="17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50%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0.000643192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0.655847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18.9255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0.63909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855893"/>
                  </a:ext>
                </a:extLst>
              </a:tr>
              <a:tr h="17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75%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0.67449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0.00722791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0.920861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86.4777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4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0.909267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4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130489"/>
                  </a:ext>
                </a:extLst>
              </a:tr>
              <a:tr h="17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max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9e+06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1.95995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10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498.471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4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19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23336.5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19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effectLst/>
                        </a:rPr>
                        <a:t>2</a:t>
                      </a: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05861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1594614-1E1A-A4A4-AB48-94A484FB4EBC}"/>
              </a:ext>
            </a:extLst>
          </p:cNvPr>
          <p:cNvSpPr txBox="1"/>
          <p:nvPr/>
        </p:nvSpPr>
        <p:spPr>
          <a:xfrm>
            <a:off x="412750" y="724540"/>
            <a:ext cx="108553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文件：`训练集数据.csv`</a:t>
            </a: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字段：</a:t>
            </a: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 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labelArea（标签）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：数值型类别（如 0,1,2）,0代表该类别为其他可能为行车或者进入地下车库后的行驶数据，1代表从地库隧道口到完全进入地下车库，2代表完全离开地下车库的前后5s。</a:t>
            </a: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 其他所有列：传感器计算后的统计特征，如：</a:t>
            </a: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 - pitch/roll/yaw 的统计量</a:t>
            </a: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 - 光照均值、方差</a:t>
            </a: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 - 加速度模长变化量</a:t>
            </a: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 - 磁场强度分布</a:t>
            </a: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 - 滑动窗口首尾特征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训练集数据统计：</a:t>
            </a:r>
          </a:p>
        </p:txBody>
      </p:sp>
    </p:spTree>
    <p:extLst>
      <p:ext uri="{BB962C8B-B14F-4D97-AF65-F5344CB8AC3E}">
        <p14:creationId xmlns:p14="http://schemas.microsoft.com/office/powerpoint/2010/main" val="4254144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84071-2642-C11A-AFA1-74CBA820B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77730BA-FE13-5077-B224-7B7A24AC0A98}"/>
              </a:ext>
            </a:extLst>
          </p:cNvPr>
          <p:cNvSpPr txBox="1"/>
          <p:nvPr/>
        </p:nvSpPr>
        <p:spPr>
          <a:xfrm>
            <a:off x="412750" y="288995"/>
            <a:ext cx="1100455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三、验证集数据说明</a:t>
            </a:r>
            <a:endParaRPr lang="en-US" altLang="zh-CN" sz="28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验证文件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`test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文件夹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`</a:t>
            </a:r>
          </a:p>
          <a:p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里面含有分好组的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17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个文件，每个文件代表一次采集数据的完整流程，即平路行驶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车辆进或出地库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地库内行驶三个部分也是提完特征之后的数据，与训练数据的列只有标签的差异，验证文件里面是没有标签的，你的输出结果可以追加一列到表中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提示：</a:t>
            </a:r>
            <a:r>
              <a:rPr lang="zh-CN" altLang="en-US" dirty="0"/>
              <a:t>训练集有标签，可以将训练集切分一部分出来测试，查看模型的拟合效果，验证文件夹里的文件用来验证，里面是不含标签列的</a:t>
            </a:r>
            <a:endParaRPr lang="en-US" altLang="zh-CN" dirty="0"/>
          </a:p>
          <a:p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8130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F1898-6A0D-D658-2A06-05C274C9B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15D760B-249E-0923-6F1E-61A85D2E618C}"/>
              </a:ext>
            </a:extLst>
          </p:cNvPr>
          <p:cNvSpPr txBox="1"/>
          <p:nvPr/>
        </p:nvSpPr>
        <p:spPr>
          <a:xfrm>
            <a:off x="412750" y="288995"/>
            <a:ext cx="11004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/>
              <a:t>四、部分特征可视化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E5200FF-9D1A-2D03-A77B-086B24C59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190" y="0"/>
            <a:ext cx="2517494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A6FC99C-F0D2-73F4-E6D8-CB5A21F1A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940" y="0"/>
            <a:ext cx="25174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328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EE790-0A85-E7A1-5872-C5195A1D3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A85F436-9DF2-7825-E76C-B54A911EC194}"/>
              </a:ext>
            </a:extLst>
          </p:cNvPr>
          <p:cNvSpPr txBox="1"/>
          <p:nvPr/>
        </p:nvSpPr>
        <p:spPr>
          <a:xfrm>
            <a:off x="412750" y="206445"/>
            <a:ext cx="1100455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五、作业提交要求</a:t>
            </a:r>
            <a:endParaRPr lang="en-US" altLang="zh-CN" sz="28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sz="28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sz="28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sz="28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sz="28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57D271-A67F-45F8-BED1-34E811F78FCC}"/>
              </a:ext>
            </a:extLst>
          </p:cNvPr>
          <p:cNvSpPr txBox="1"/>
          <p:nvPr/>
        </p:nvSpPr>
        <p:spPr>
          <a:xfrm>
            <a:off x="343176" y="685120"/>
            <a:ext cx="11436074" cy="255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888" lvl="1" algn="just">
              <a:lnSpc>
                <a:spcPct val="150000"/>
              </a:lnSpc>
              <a:spcBef>
                <a:spcPts val="371"/>
              </a:spcBef>
              <a:tabLst>
                <a:tab pos="241294" algn="l"/>
              </a:tabLst>
            </a:pPr>
            <a:r>
              <a:rPr lang="zh-CN" altLang="en-US" sz="2000" b="1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提交内容：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（每人独立提交）：</a:t>
            </a:r>
            <a:endParaRPr lang="en-US" altLang="zh-CN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  <a:p>
            <a:pPr marL="1384265" lvl="2" indent="-457189" algn="just">
              <a:lnSpc>
                <a:spcPct val="150000"/>
              </a:lnSpc>
              <a:spcBef>
                <a:spcPts val="371"/>
              </a:spcBef>
              <a:buFont typeface="+mj-ea"/>
              <a:buAutoNum type="circleNumDbPlain"/>
              <a:tabLst>
                <a:tab pos="241294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提交测试集预测结果，注意格式需与训练集的</a:t>
            </a:r>
            <a:r>
              <a:rPr lang="zh-CN" altLang="en-US" sz="2000" b="1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标签数据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格式一致</a:t>
            </a:r>
            <a:endParaRPr lang="en-US" altLang="zh-CN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  <a:p>
            <a:pPr marL="1384265" lvl="2" indent="-457189" algn="just">
              <a:lnSpc>
                <a:spcPct val="150000"/>
              </a:lnSpc>
              <a:spcBef>
                <a:spcPts val="371"/>
              </a:spcBef>
              <a:buFont typeface="+mj-ea"/>
              <a:buAutoNum type="circleNumDbPlain"/>
              <a:tabLst>
                <a:tab pos="241294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提交实验分析报告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(Word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，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pdf)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，要求见二，任务目标</a:t>
            </a:r>
            <a:endParaRPr lang="en-US" altLang="zh-CN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  <a:p>
            <a:pPr marL="1384265" lvl="2" indent="-457189" algn="just">
              <a:lnSpc>
                <a:spcPct val="150000"/>
              </a:lnSpc>
              <a:spcBef>
                <a:spcPts val="371"/>
              </a:spcBef>
              <a:buFont typeface="+mj-ea"/>
              <a:buAutoNum type="circleNumDbPlain"/>
              <a:tabLst>
                <a:tab pos="241294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提交系统源码（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- 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提交所有的脚本文件，代码应可运行，并包含必要的注释说明）</a:t>
            </a:r>
            <a:endParaRPr lang="en-US" altLang="zh-CN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  <a:p>
            <a:pPr marL="1384265" lvl="2" indent="-457189" algn="just">
              <a:lnSpc>
                <a:spcPct val="150000"/>
              </a:lnSpc>
              <a:spcBef>
                <a:spcPts val="371"/>
              </a:spcBef>
              <a:buFont typeface="+mj-ea"/>
              <a:buAutoNum type="circleNumDbPlain"/>
              <a:tabLst>
                <a:tab pos="241294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最后一次课之前提交</a:t>
            </a:r>
            <a:endParaRPr lang="en-US" altLang="zh-CN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518C9A-60EC-4220-934B-44F45B1C7FBB}"/>
              </a:ext>
            </a:extLst>
          </p:cNvPr>
          <p:cNvSpPr txBox="1"/>
          <p:nvPr/>
        </p:nvSpPr>
        <p:spPr>
          <a:xfrm>
            <a:off x="917238" y="3208888"/>
            <a:ext cx="9144000" cy="3064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371"/>
              </a:spcBef>
              <a:tabLst>
                <a:tab pos="241294" algn="l"/>
              </a:tabLst>
            </a:pPr>
            <a:r>
              <a:rPr lang="zh-CN" altLang="en-US" sz="2000" b="1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打分标准</a:t>
            </a:r>
            <a:endParaRPr lang="en-US" altLang="zh-CN" sz="2000" b="1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  <a:p>
            <a:pPr marL="927077" lvl="1" indent="-457189" algn="just">
              <a:lnSpc>
                <a:spcPct val="150000"/>
              </a:lnSpc>
              <a:spcBef>
                <a:spcPts val="371"/>
              </a:spcBef>
              <a:buFont typeface="+mj-lt"/>
              <a:buAutoNum type="arabicPeriod"/>
              <a:tabLst>
                <a:tab pos="241294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理论基础和每个分解方法的实现（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30%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）；</a:t>
            </a:r>
          </a:p>
          <a:p>
            <a:pPr marL="927077" lvl="1" indent="-457189" algn="just">
              <a:lnSpc>
                <a:spcPct val="150000"/>
              </a:lnSpc>
              <a:spcBef>
                <a:spcPts val="371"/>
              </a:spcBef>
              <a:buFont typeface="+mj-lt"/>
              <a:buAutoNum type="arabicPeriod"/>
              <a:tabLst>
                <a:tab pos="241294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数据预处理和可视化分析的质量（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30%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）；</a:t>
            </a:r>
          </a:p>
          <a:p>
            <a:pPr marL="927077" lvl="1" indent="-457189" algn="just">
              <a:lnSpc>
                <a:spcPct val="150000"/>
              </a:lnSpc>
              <a:spcBef>
                <a:spcPts val="371"/>
              </a:spcBef>
              <a:buFont typeface="+mj-lt"/>
              <a:buAutoNum type="arabicPeriod"/>
              <a:tabLst>
                <a:tab pos="241294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模型评估与结果比较的深度（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30%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）；</a:t>
            </a:r>
          </a:p>
          <a:p>
            <a:pPr marL="927077" lvl="1" indent="-457189" algn="just">
              <a:lnSpc>
                <a:spcPct val="150000"/>
              </a:lnSpc>
              <a:spcBef>
                <a:spcPts val="371"/>
              </a:spcBef>
              <a:buFont typeface="+mj-lt"/>
              <a:buAutoNum type="arabicPeriod"/>
              <a:tabLst>
                <a:tab pos="241294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项目报告的结构、逻辑性和完整性（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10%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）；</a:t>
            </a:r>
            <a:endParaRPr lang="en-US" altLang="zh-CN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  <a:p>
            <a:pPr marL="927065" lvl="1" indent="-457189" algn="just">
              <a:lnSpc>
                <a:spcPct val="150000"/>
              </a:lnSpc>
              <a:spcBef>
                <a:spcPts val="371"/>
              </a:spcBef>
              <a:buFont typeface="+mj-lt"/>
              <a:buAutoNum type="arabicPeriod"/>
              <a:tabLst>
                <a:tab pos="241294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若无法实现系统，仅给出实验思路，得分上限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-20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。</a:t>
            </a:r>
            <a:endParaRPr lang="en-US" altLang="zh-CN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9193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5E62D72-D044-4168-83A0-38392E58F6BA}"/>
              </a:ext>
            </a:extLst>
          </p:cNvPr>
          <p:cNvSpPr txBox="1"/>
          <p:nvPr/>
        </p:nvSpPr>
        <p:spPr>
          <a:xfrm>
            <a:off x="551935" y="982657"/>
            <a:ext cx="11236411" cy="5862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如果觉得大作业选项</a:t>
            </a: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难度太大，可以选择选项</a:t>
            </a: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2:</a:t>
            </a:r>
          </a:p>
          <a:p>
            <a:pPr>
              <a:lnSpc>
                <a:spcPct val="150000"/>
              </a:lnSpc>
            </a:pPr>
            <a:endParaRPr lang="en-US" altLang="zh-CN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1. 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作业要求：</a:t>
            </a:r>
            <a:endParaRPr lang="en-US" altLang="zh-CN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开发一款极简版数值计算软件，实现矩阵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的 </a:t>
            </a: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LU 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分解、</a:t>
            </a: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Cholesky 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分解、</a:t>
            </a: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QR 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分解、主特征值 </a:t>
            </a: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 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特征向量求解、</a:t>
            </a: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SVD 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分解功能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。软件需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支持 “矩阵手动输入、单算法选择、算法前置校验、分解 </a:t>
            </a: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 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计算结果输出、结果正确性验证” 全流程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，重点考察数值算法的手动实现能力与结果验证逻辑。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2. 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开发要求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开发语言：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Python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（推荐），禁止使用 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MATLAB 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等商用软件；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依赖限制：仅允许使用 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Python 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内置功能，禁止依赖 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NumPy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、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SciPy 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等第三方数值计算库；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代码结构：采用单文件实现（命名为</a:t>
            </a:r>
            <a:r>
              <a:rPr lang="en-US" altLang="zh-CN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numerical_calc.py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），按 “基础工具函数→算法函数→验证函数→主程序” 组织，代码需添加关键步骤注释；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运行要求：直接通过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python </a:t>
            </a:r>
            <a:r>
              <a:rPr lang="en-US" altLang="zh-CN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numerical_calc.py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运行，无需额外配置。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F0F4BD-78A1-456A-A4B8-16A2CDDB30CE}"/>
              </a:ext>
            </a:extLst>
          </p:cNvPr>
          <p:cNvSpPr/>
          <p:nvPr/>
        </p:nvSpPr>
        <p:spPr>
          <a:xfrm>
            <a:off x="0" y="0"/>
            <a:ext cx="12192000" cy="590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期末大作业选项</a:t>
            </a:r>
            <a:r>
              <a:rPr lang="en-US" altLang="zh-CN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</a:t>
            </a:r>
            <a:r>
              <a:rPr lang="zh-CN" altLang="en-US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：数值计算软件编写，难度系数</a:t>
            </a:r>
            <a:r>
              <a:rPr lang="en-US" altLang="zh-CN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0.9</a:t>
            </a:r>
            <a:endParaRPr lang="zh-CN" altLang="en-US" sz="24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1431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5E62D72-D044-4168-83A0-38392E58F6BA}"/>
              </a:ext>
            </a:extLst>
          </p:cNvPr>
          <p:cNvSpPr txBox="1"/>
          <p:nvPr/>
        </p:nvSpPr>
        <p:spPr>
          <a:xfrm>
            <a:off x="477794" y="590550"/>
            <a:ext cx="11236411" cy="4200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3. </a:t>
            </a:r>
            <a:r>
              <a:rPr lang="zh-CN" altLang="en-US" b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提交要求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代码文件：</a:t>
            </a:r>
            <a:r>
              <a:rPr lang="en-US" altLang="zh-CN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numerical_calc.py</a:t>
            </a: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（完整可运行代码，含注释）；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提交实验分析报告</a:t>
            </a:r>
            <a:r>
              <a:rPr lang="en-US" altLang="zh-CN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(Word</a:t>
            </a: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</a:t>
            </a:r>
            <a:r>
              <a:rPr lang="en-US" altLang="zh-CN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pdf)</a:t>
            </a: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，包括不限于以下内容</a:t>
            </a:r>
            <a:endParaRPr lang="en-US" altLang="zh-CN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运行方式（如</a:t>
            </a:r>
            <a:r>
              <a:rPr lang="en-US" altLang="zh-CN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python numerical_calc.py</a:t>
            </a: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）；</a:t>
            </a:r>
          </a:p>
          <a:p>
            <a:pPr lvl="1">
              <a:lnSpc>
                <a:spcPct val="150000"/>
              </a:lnSpc>
            </a:pP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至少 </a:t>
            </a:r>
            <a:r>
              <a:rPr lang="en-US" altLang="zh-CN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 </a:t>
            </a: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个测试用例（如 </a:t>
            </a:r>
            <a:r>
              <a:rPr lang="en-US" altLang="zh-CN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 </a:t>
            </a: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阶对称正定矩阵测试 </a:t>
            </a:r>
            <a:r>
              <a:rPr lang="en-US" altLang="zh-CN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Cholesky</a:t>
            </a: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、</a:t>
            </a:r>
            <a:r>
              <a:rPr lang="en-US" altLang="zh-CN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3 </a:t>
            </a: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阶方阵测试 </a:t>
            </a:r>
            <a:r>
              <a:rPr lang="en-US" altLang="zh-CN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LU</a:t>
            </a: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）；</a:t>
            </a:r>
          </a:p>
          <a:p>
            <a:pPr lvl="1">
              <a:lnSpc>
                <a:spcPct val="150000"/>
              </a:lnSpc>
            </a:pP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测试用例的运行结果截图 </a:t>
            </a:r>
            <a:r>
              <a:rPr lang="en-US" altLang="zh-CN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 </a:t>
            </a: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文本复制（含输入矩阵、算法结果、验证结论）；</a:t>
            </a:r>
          </a:p>
          <a:p>
            <a:pPr lvl="1">
              <a:lnSpc>
                <a:spcPct val="150000"/>
              </a:lnSpc>
            </a:pP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核心算法实现的关键思路（如 </a:t>
            </a:r>
            <a:r>
              <a:rPr lang="en-US" altLang="zh-CN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LU </a:t>
            </a: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分解的列选主元步骤、幂法的收敛判断逻辑）。</a:t>
            </a:r>
            <a:endParaRPr lang="en-US" altLang="zh-CN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2. </a:t>
            </a:r>
            <a:r>
              <a:rPr lang="zh-CN" altLang="en-US" b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评分标准</a:t>
            </a:r>
          </a:p>
          <a:p>
            <a:pPr>
              <a:lnSpc>
                <a:spcPct val="150000"/>
              </a:lnSpc>
            </a:pPr>
            <a:endParaRPr lang="en-US" altLang="zh-CN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F0F4BD-78A1-456A-A4B8-16A2CDDB30CE}"/>
              </a:ext>
            </a:extLst>
          </p:cNvPr>
          <p:cNvSpPr/>
          <p:nvPr/>
        </p:nvSpPr>
        <p:spPr>
          <a:xfrm>
            <a:off x="0" y="0"/>
            <a:ext cx="12192000" cy="590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期末大作业选项</a:t>
            </a:r>
            <a:r>
              <a:rPr lang="en-US" altLang="zh-CN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</a:t>
            </a:r>
            <a:r>
              <a:rPr lang="zh-CN" altLang="en-US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：数值计算软件编写，难度系数</a:t>
            </a:r>
            <a:r>
              <a:rPr lang="en-US" altLang="zh-CN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0.9</a:t>
            </a:r>
            <a:endParaRPr lang="zh-CN" altLang="en-US" sz="24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392760B-83A8-451C-822C-4F712CBA8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848182"/>
              </p:ext>
            </p:extLst>
          </p:nvPr>
        </p:nvGraphicFramePr>
        <p:xfrm>
          <a:off x="477794" y="4124261"/>
          <a:ext cx="8556139" cy="2514055"/>
        </p:xfrm>
        <a:graphic>
          <a:graphicData uri="http://schemas.openxmlformats.org/drawingml/2006/table">
            <a:tbl>
              <a:tblPr/>
              <a:tblGrid>
                <a:gridCol w="2318998">
                  <a:extLst>
                    <a:ext uri="{9D8B030D-6E8A-4147-A177-3AD203B41FA5}">
                      <a16:colId xmlns:a16="http://schemas.microsoft.com/office/drawing/2014/main" val="3364957243"/>
                    </a:ext>
                  </a:extLst>
                </a:gridCol>
                <a:gridCol w="883834">
                  <a:extLst>
                    <a:ext uri="{9D8B030D-6E8A-4147-A177-3AD203B41FA5}">
                      <a16:colId xmlns:a16="http://schemas.microsoft.com/office/drawing/2014/main" val="2795297885"/>
                    </a:ext>
                  </a:extLst>
                </a:gridCol>
                <a:gridCol w="5353307">
                  <a:extLst>
                    <a:ext uri="{9D8B030D-6E8A-4147-A177-3AD203B41FA5}">
                      <a16:colId xmlns:a16="http://schemas.microsoft.com/office/drawing/2014/main" val="2006868947"/>
                    </a:ext>
                  </a:extLst>
                </a:gridCol>
              </a:tblGrid>
              <a:tr h="281996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zh-CN" altLang="en-US" sz="1500" b="1">
                          <a:solidFill>
                            <a:srgbClr val="000000"/>
                          </a:solidFill>
                          <a:effectLst/>
                        </a:rPr>
                        <a:t>评分项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10A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509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109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909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zh-CN" altLang="en-US" sz="1500" b="1" dirty="0">
                          <a:solidFill>
                            <a:srgbClr val="000000"/>
                          </a:solidFill>
                          <a:effectLst/>
                        </a:rPr>
                        <a:t>分值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509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092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0A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50A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zh-CN" altLang="en-US" sz="1500" b="1">
                          <a:solidFill>
                            <a:srgbClr val="000000"/>
                          </a:solidFill>
                          <a:effectLst/>
                        </a:rPr>
                        <a:t>评分要求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3092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092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092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C053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780929"/>
                  </a:ext>
                </a:extLst>
              </a:tr>
              <a:tr h="435068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zh-CN" altLang="en-US" sz="1500" b="0">
                          <a:effectLst/>
                        </a:rPr>
                        <a:t>矩阵输入模块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F09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0A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909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10A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en-US" altLang="zh-CN" sz="1500" b="0" dirty="0">
                          <a:effectLst/>
                        </a:rPr>
                        <a:t>10 </a:t>
                      </a:r>
                      <a:r>
                        <a:rPr lang="zh-CN" altLang="en-US" sz="1500" b="0" dirty="0">
                          <a:effectLst/>
                        </a:rPr>
                        <a:t>分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D0A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09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50A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0A9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zh-CN" altLang="en-US" sz="1500" b="0">
                          <a:effectLst/>
                        </a:rPr>
                        <a:t>输入流程正常，错误输入提示有效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D09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109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C053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106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782276"/>
                  </a:ext>
                </a:extLst>
              </a:tr>
              <a:tr h="435068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zh-CN" altLang="en-US" sz="1500" b="0">
                          <a:effectLst/>
                        </a:rPr>
                        <a:t>算法前置校验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50A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F0AE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10A6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10AB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en-US" altLang="zh-CN" sz="1500" b="0" dirty="0">
                          <a:effectLst/>
                        </a:rPr>
                        <a:t>10 </a:t>
                      </a:r>
                      <a:r>
                        <a:rPr lang="zh-CN" altLang="en-US" sz="1500" b="0" dirty="0">
                          <a:effectLst/>
                        </a:rPr>
                        <a:t>分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F0AE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909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0A9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0AB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zh-CN" altLang="en-US" sz="1500" b="0">
                          <a:effectLst/>
                        </a:rPr>
                        <a:t>各算法适用条件校验准确，提示清晰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909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109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1061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B072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703088"/>
                  </a:ext>
                </a:extLst>
              </a:tr>
              <a:tr h="435068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zh-CN" altLang="en-US" sz="1500" b="0">
                          <a:effectLst/>
                        </a:rPr>
                        <a:t>核心算法实现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30AB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50B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10AB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10B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en-US" altLang="zh-CN" sz="1500" b="0">
                          <a:effectLst/>
                        </a:rPr>
                        <a:t>40 </a:t>
                      </a:r>
                      <a:r>
                        <a:rPr lang="zh-CN" altLang="en-US" sz="1500" b="0">
                          <a:effectLst/>
                        </a:rPr>
                        <a:t>分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50B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50A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0AB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04E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en-US" altLang="zh-CN" sz="1500" b="0" dirty="0">
                          <a:effectLst/>
                        </a:rPr>
                        <a:t>5 </a:t>
                      </a:r>
                      <a:r>
                        <a:rPr lang="zh-CN" altLang="en-US" sz="1500" b="0" dirty="0">
                          <a:effectLst/>
                        </a:rPr>
                        <a:t>个算法均手动实现，结果输出正确（每个算法 </a:t>
                      </a:r>
                      <a:r>
                        <a:rPr lang="en-US" altLang="zh-CN" sz="1500" b="0" dirty="0">
                          <a:effectLst/>
                        </a:rPr>
                        <a:t>8 </a:t>
                      </a:r>
                      <a:r>
                        <a:rPr lang="zh-CN" altLang="en-US" sz="1500" b="0" dirty="0">
                          <a:effectLst/>
                        </a:rPr>
                        <a:t>分）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50A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109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B072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4076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418995"/>
                  </a:ext>
                </a:extLst>
              </a:tr>
              <a:tr h="435068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zh-CN" altLang="en-US" sz="1500" b="0">
                          <a:effectLst/>
                        </a:rPr>
                        <a:t>结果验证模块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30B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504E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10B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50B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en-US" altLang="zh-CN" sz="1500" b="0" dirty="0">
                          <a:effectLst/>
                        </a:rPr>
                        <a:t>20 </a:t>
                      </a:r>
                      <a:r>
                        <a:rPr lang="zh-CN" altLang="en-US" sz="1500" b="0" dirty="0">
                          <a:effectLst/>
                        </a:rPr>
                        <a:t>分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504E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50A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04E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90B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zh-CN" altLang="en-US" sz="1500" b="0" dirty="0">
                          <a:effectLst/>
                        </a:rPr>
                        <a:t>验证逻辑正确，残差计算准确，结论判定合理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50A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F09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4076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707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359011"/>
                  </a:ext>
                </a:extLst>
              </a:tr>
              <a:tr h="435068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zh-CN" altLang="en-US" sz="1500" b="0" dirty="0">
                          <a:effectLst/>
                        </a:rPr>
                        <a:t>交互界面与代码规范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D0B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F0B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50B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509E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en-US" altLang="zh-CN" sz="1500" b="0" dirty="0">
                          <a:effectLst/>
                        </a:rPr>
                        <a:t>10 </a:t>
                      </a:r>
                      <a:r>
                        <a:rPr lang="zh-CN" altLang="en-US" sz="1500" b="0" dirty="0">
                          <a:effectLst/>
                        </a:rPr>
                        <a:t>分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F0B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50A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90B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B049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zh-CN" altLang="en-US" sz="1500" b="0" dirty="0">
                          <a:effectLst/>
                        </a:rPr>
                        <a:t>交互流程清晰，代码结构合理，关键步骤有注释</a:t>
                      </a:r>
                    </a:p>
                  </a:txBody>
                  <a:tcPr marL="144403" marR="144403" marT="96269" marB="96269" anchor="ctr">
                    <a:lnL w="6344" cap="flat" cmpd="sng" algn="ctr">
                      <a:solidFill>
                        <a:srgbClr val="50A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109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7079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F0A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041471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7C4A7372-C936-4140-AAAC-2D8FB80FB09D}"/>
              </a:ext>
            </a:extLst>
          </p:cNvPr>
          <p:cNvSpPr txBox="1"/>
          <p:nvPr/>
        </p:nvSpPr>
        <p:spPr>
          <a:xfrm>
            <a:off x="9216826" y="5944284"/>
            <a:ext cx="2780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注：选项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难度系数较低，故大作业分数上限为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90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0210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1440</Words>
  <Application>Microsoft Office PowerPoint</Application>
  <PresentationFormat>宽屏</PresentationFormat>
  <Paragraphs>205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Microsoft YaHei Light</vt:lpstr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Wenhua Shao</dc:creator>
  <cp:lastModifiedBy>Wenhua Shao</cp:lastModifiedBy>
  <cp:revision>8</cp:revision>
  <dcterms:created xsi:type="dcterms:W3CDTF">2025-12-08T09:50:50Z</dcterms:created>
  <dcterms:modified xsi:type="dcterms:W3CDTF">2025-12-09T02:52:47Z</dcterms:modified>
</cp:coreProperties>
</file>